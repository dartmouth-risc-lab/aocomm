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447" r:id="rId2"/>
    <p:sldId id="446" r:id="rId3"/>
    <p:sldId id="441" r:id="rId4"/>
    <p:sldId id="442" r:id="rId5"/>
    <p:sldId id="443" r:id="rId6"/>
    <p:sldId id="444" r:id="rId7"/>
    <p:sldId id="44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ank you!" id="{A551876A-6837-4E63-BBCE-3D0A9AF5FB93}">
          <p14:sldIdLst>
            <p14:sldId id="447"/>
            <p14:sldId id="446"/>
            <p14:sldId id="441"/>
            <p14:sldId id="442"/>
            <p14:sldId id="443"/>
            <p14:sldId id="444"/>
            <p14:sldId id="4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3C"/>
    <a:srgbClr val="3B7D23"/>
    <a:srgbClr val="D86ECC"/>
    <a:srgbClr val="3B89FF"/>
    <a:srgbClr val="1F673C"/>
    <a:srgbClr val="FFCC66"/>
    <a:srgbClr val="18502F"/>
    <a:srgbClr val="1860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59733" autoAdjust="0"/>
  </p:normalViewPr>
  <p:slideViewPr>
    <p:cSldViewPr snapToGrid="0">
      <p:cViewPr varScale="1">
        <p:scale>
          <a:sx n="72" d="100"/>
          <a:sy n="72" d="100"/>
        </p:scale>
        <p:origin x="184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D4C392-8963-4952-9568-6124CCAA27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8F7096-B2AD-38B2-F8BA-5080CA4E44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4280F-B683-4269-A9CF-90B3339D325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64E26-C1E6-D469-C8C0-EE2EDED656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B2105-EF36-8B33-E69C-352E36F4D7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957B3-6DD3-4DE8-A889-F13393798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830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6FF02-8429-43CF-ABDC-9BFA6AB1733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2BC8E-41CC-45B3-8273-35DB2AE89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673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1D77A-7C62-87C3-AF67-08BBD18F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1D445-DFC6-2171-53E2-33CE8A341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7E810-4A2E-E648-11B7-CCBB218BD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no sound is played</a:t>
            </a:r>
          </a:p>
        </p:txBody>
      </p:sp>
    </p:spTree>
    <p:extLst>
      <p:ext uri="{BB962C8B-B14F-4D97-AF65-F5344CB8AC3E}">
        <p14:creationId xmlns:p14="http://schemas.microsoft.com/office/powerpoint/2010/main" val="4126656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7523-02C4-485B-77B9-A0A08EF2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F565E-786C-5DCC-8A20-7D2C3C2A4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955EE-1487-3A13-A5A5-8A64BCFB7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no sound is played</a:t>
            </a:r>
          </a:p>
        </p:txBody>
      </p:sp>
    </p:spTree>
    <p:extLst>
      <p:ext uri="{BB962C8B-B14F-4D97-AF65-F5344CB8AC3E}">
        <p14:creationId xmlns:p14="http://schemas.microsoft.com/office/powerpoint/2010/main" val="906576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BD24D-75A5-49AD-6197-CBBEAC078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6A1B7-A75E-FEA4-4286-8A54A6262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70F58-E189-4469-3259-92726D660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entering the water medium propagates straight</a:t>
            </a:r>
          </a:p>
        </p:txBody>
      </p:sp>
    </p:spTree>
    <p:extLst>
      <p:ext uri="{BB962C8B-B14F-4D97-AF65-F5344CB8AC3E}">
        <p14:creationId xmlns:p14="http://schemas.microsoft.com/office/powerpoint/2010/main" val="3630865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91C19-01F7-E7BF-AFB0-8DB3E5FD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A4836-E91E-2371-BDB2-54DB33926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9FF6A-E508-81B6-B70E-B59D68263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when sound is played</a:t>
            </a:r>
          </a:p>
        </p:txBody>
      </p:sp>
    </p:spTree>
    <p:extLst>
      <p:ext uri="{BB962C8B-B14F-4D97-AF65-F5344CB8AC3E}">
        <p14:creationId xmlns:p14="http://schemas.microsoft.com/office/powerpoint/2010/main" val="1102509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CD32-8D57-AC26-88B0-B9CEF180E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86E41-6DB1-BDC6-6246-71145E85A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987F8A-5872-138F-1865-9B0C9B34E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it curves and focusses</a:t>
            </a:r>
          </a:p>
        </p:txBody>
      </p:sp>
    </p:spTree>
    <p:extLst>
      <p:ext uri="{BB962C8B-B14F-4D97-AF65-F5344CB8AC3E}">
        <p14:creationId xmlns:p14="http://schemas.microsoft.com/office/powerpoint/2010/main" val="289634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623B-1B93-20DF-30B4-96A914C6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59F64-F828-C825-CC84-FC7DACD66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9EE3D-9471-81AA-9ED3-F693B0FC6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this only puts a 1 at time t0</a:t>
            </a:r>
          </a:p>
        </p:txBody>
      </p:sp>
    </p:spTree>
    <p:extLst>
      <p:ext uri="{BB962C8B-B14F-4D97-AF65-F5344CB8AC3E}">
        <p14:creationId xmlns:p14="http://schemas.microsoft.com/office/powerpoint/2010/main" val="4244198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88BA-5F18-DCFD-27E1-3FB1F93DB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330FA-CF8F-F5D1-C941-18EC47009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349F7-1857-656D-A57D-FC2286D69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0 at after delta t time. </a:t>
            </a:r>
          </a:p>
        </p:txBody>
      </p:sp>
    </p:spTree>
    <p:extLst>
      <p:ext uri="{BB962C8B-B14F-4D97-AF65-F5344CB8AC3E}">
        <p14:creationId xmlns:p14="http://schemas.microsoft.com/office/powerpoint/2010/main" val="4112880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5AD60DC8-C231-4058-8C2A-4CF30B601EE4}" type="datetime1">
              <a:rPr lang="en-US" smtClean="0"/>
              <a:pPr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15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2pPr>
            <a:lvl3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3pPr>
            <a:lvl4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4pPr>
            <a:lvl5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079BCFA1-819E-4DB7-8145-62EB0F0E5C56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050" y="6544166"/>
            <a:ext cx="49278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/>
              <a:t>Underwater Optical Backscatter Communication using Acousto-Optic Beam Steering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4459E3-ACC1-5208-F904-09F98CD9F063}"/>
              </a:ext>
            </a:extLst>
          </p:cNvPr>
          <p:cNvGrpSpPr/>
          <p:nvPr userDrawn="1"/>
        </p:nvGrpSpPr>
        <p:grpSpPr>
          <a:xfrm>
            <a:off x="0" y="6426498"/>
            <a:ext cx="1069893" cy="425053"/>
            <a:chOff x="0" y="6426498"/>
            <a:chExt cx="1069893" cy="425053"/>
          </a:xfrm>
        </p:grpSpPr>
        <p:pic>
          <p:nvPicPr>
            <p:cNvPr id="19" name="Picture 18" descr="A group of colorful squares with letters&#10;&#10;AI-generated content may be incorrect.">
              <a:extLst>
                <a:ext uri="{FF2B5EF4-FFF2-40B4-BE49-F238E27FC236}">
                  <a16:creationId xmlns:a16="http://schemas.microsoft.com/office/drawing/2014/main" id="{1120DEE3-C5AC-B719-4A54-1E8B109AFF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61"/>
            <a:stretch>
              <a:fillRect/>
            </a:stretch>
          </p:blipFill>
          <p:spPr>
            <a:xfrm>
              <a:off x="0" y="6426498"/>
              <a:ext cx="588723" cy="42228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10C3FE-C437-05D0-4BFA-921D0DACAED9}"/>
                </a:ext>
              </a:extLst>
            </p:cNvPr>
            <p:cNvSpPr txBox="1"/>
            <p:nvPr userDrawn="1"/>
          </p:nvSpPr>
          <p:spPr>
            <a:xfrm>
              <a:off x="538978" y="648221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673C"/>
                  </a:solidFill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Lab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6145284-12EB-FF91-98FB-03A699E1C3D8}"/>
              </a:ext>
            </a:extLst>
          </p:cNvPr>
          <p:cNvGrpSpPr/>
          <p:nvPr userDrawn="1"/>
        </p:nvGrpSpPr>
        <p:grpSpPr>
          <a:xfrm>
            <a:off x="-6263" y="-6263"/>
            <a:ext cx="407096" cy="422285"/>
            <a:chOff x="-6263" y="-6263"/>
            <a:chExt cx="407096" cy="422285"/>
          </a:xfrm>
        </p:grpSpPr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BA27DF8E-24F9-A1AE-4E54-8581FA5DAADD}"/>
                </a:ext>
              </a:extLst>
            </p:cNvPr>
            <p:cNvSpPr/>
            <p:nvPr userDrawn="1"/>
          </p:nvSpPr>
          <p:spPr>
            <a:xfrm>
              <a:off x="-6263" y="-6263"/>
              <a:ext cx="407096" cy="422285"/>
            </a:xfrm>
            <a:prstGeom prst="rect">
              <a:avLst/>
            </a:prstGeom>
            <a:solidFill>
              <a:srgbClr val="00703C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48133C61-0530-3A1A-2266-98E4AFD6B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052" y="19408"/>
              <a:ext cx="347744" cy="355753"/>
            </a:xfrm>
            <a:prstGeom prst="rect">
              <a:avLst/>
            </a:prstGeom>
          </p:spPr>
        </p:pic>
      </p:grp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5D5DCCFB-06E8-9E02-5D4A-7434C9C4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8904" y="6602046"/>
            <a:ext cx="2743200" cy="365125"/>
          </a:xfrm>
        </p:spPr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6ABDF3D3-5BB4-40D3-8527-39FA07D679F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6DB1FEF-A2AD-2ACD-BADE-C02F5485ED5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15476" y="8650"/>
            <a:ext cx="1272988" cy="34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57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2pPr>
            <a:lvl3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3pPr>
            <a:lvl4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4pPr>
            <a:lvl5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2pPr>
            <a:lvl3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3pPr>
            <a:lvl4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4pPr>
            <a:lvl5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DAB3538D-3717-4CDA-A845-54334DF52A34}" type="datetime1">
              <a:rPr lang="en-US" smtClean="0"/>
              <a:pPr/>
              <a:t>11/11/2025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A9A422-3618-0DB8-5472-CAD21BE5F52E}"/>
              </a:ext>
            </a:extLst>
          </p:cNvPr>
          <p:cNvGrpSpPr/>
          <p:nvPr userDrawn="1"/>
        </p:nvGrpSpPr>
        <p:grpSpPr>
          <a:xfrm>
            <a:off x="-6263" y="-6263"/>
            <a:ext cx="407096" cy="422285"/>
            <a:chOff x="-6263" y="-6263"/>
            <a:chExt cx="407096" cy="422285"/>
          </a:xfrm>
        </p:grpSpPr>
        <p:sp>
          <p:nvSpPr>
            <p:cNvPr id="19" name="Rectangle">
              <a:extLst>
                <a:ext uri="{FF2B5EF4-FFF2-40B4-BE49-F238E27FC236}">
                  <a16:creationId xmlns:a16="http://schemas.microsoft.com/office/drawing/2014/main" id="{88F254A1-B6F8-1CB3-2C9E-6D716FD93F0A}"/>
                </a:ext>
              </a:extLst>
            </p:cNvPr>
            <p:cNvSpPr/>
            <p:nvPr userDrawn="1"/>
          </p:nvSpPr>
          <p:spPr>
            <a:xfrm>
              <a:off x="-6263" y="-6263"/>
              <a:ext cx="407096" cy="422285"/>
            </a:xfrm>
            <a:prstGeom prst="rect">
              <a:avLst/>
            </a:prstGeom>
            <a:solidFill>
              <a:srgbClr val="00703C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C68F48DC-8577-A7B1-1278-247E3841FE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052" y="19408"/>
              <a:ext cx="347744" cy="355753"/>
            </a:xfrm>
            <a:prstGeom prst="rect">
              <a:avLst/>
            </a:prstGeom>
          </p:spPr>
        </p:pic>
      </p:grp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487D6829-E2FB-1248-C89C-48528E10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8904" y="6602046"/>
            <a:ext cx="2743200" cy="365125"/>
          </a:xfrm>
        </p:spPr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6ABDF3D3-5BB4-40D3-8527-39FA07D679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FEC6A8-6021-40D5-6FFB-4BF6F8192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2050" y="6544166"/>
            <a:ext cx="49278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/>
              <a:t>Underwater Optical Backscatter Communication using Acousto-Optic Beam Steering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EEDA56-F414-FC70-0F21-609BECDEE0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5476" y="8650"/>
            <a:ext cx="1272988" cy="34756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32D6571-698E-EF36-7B90-7E75FD2A0A27}"/>
              </a:ext>
            </a:extLst>
          </p:cNvPr>
          <p:cNvGrpSpPr/>
          <p:nvPr userDrawn="1"/>
        </p:nvGrpSpPr>
        <p:grpSpPr>
          <a:xfrm>
            <a:off x="0" y="6426498"/>
            <a:ext cx="1069893" cy="425053"/>
            <a:chOff x="0" y="6426498"/>
            <a:chExt cx="1069893" cy="425053"/>
          </a:xfrm>
        </p:grpSpPr>
        <p:pic>
          <p:nvPicPr>
            <p:cNvPr id="9" name="Picture 8" descr="A group of colorful squares with letters&#10;&#10;AI-generated content may be incorrect.">
              <a:extLst>
                <a:ext uri="{FF2B5EF4-FFF2-40B4-BE49-F238E27FC236}">
                  <a16:creationId xmlns:a16="http://schemas.microsoft.com/office/drawing/2014/main" id="{1509723F-4E84-F430-A4AE-AE42D1FC66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61"/>
            <a:stretch>
              <a:fillRect/>
            </a:stretch>
          </p:blipFill>
          <p:spPr>
            <a:xfrm>
              <a:off x="0" y="6426498"/>
              <a:ext cx="588723" cy="42228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951745-A327-D52E-C637-AAA06DF672AB}"/>
                </a:ext>
              </a:extLst>
            </p:cNvPr>
            <p:cNvSpPr txBox="1"/>
            <p:nvPr userDrawn="1"/>
          </p:nvSpPr>
          <p:spPr>
            <a:xfrm>
              <a:off x="538978" y="648221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673C"/>
                  </a:solidFill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Lab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9440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2pPr>
            <a:lvl3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3pPr>
            <a:lvl4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4pPr>
            <a:lvl5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2pPr>
            <a:lvl3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3pPr>
            <a:lvl4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4pPr>
            <a:lvl5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E9893491-4187-4A15-8E67-9E15443BB9B3}" type="datetime1">
              <a:rPr lang="en-US" smtClean="0"/>
              <a:pPr/>
              <a:t>11/11/2025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C6D970-E8D9-7B60-444D-B38576B8CA4D}"/>
              </a:ext>
            </a:extLst>
          </p:cNvPr>
          <p:cNvGrpSpPr/>
          <p:nvPr userDrawn="1"/>
        </p:nvGrpSpPr>
        <p:grpSpPr>
          <a:xfrm>
            <a:off x="-6263" y="-6263"/>
            <a:ext cx="407096" cy="422285"/>
            <a:chOff x="-6263" y="-6263"/>
            <a:chExt cx="407096" cy="422285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764393F0-80BC-8F4B-429B-6CF048C2B51A}"/>
                </a:ext>
              </a:extLst>
            </p:cNvPr>
            <p:cNvSpPr/>
            <p:nvPr userDrawn="1"/>
          </p:nvSpPr>
          <p:spPr>
            <a:xfrm>
              <a:off x="-6263" y="-6263"/>
              <a:ext cx="407096" cy="422285"/>
            </a:xfrm>
            <a:prstGeom prst="rect">
              <a:avLst/>
            </a:prstGeom>
            <a:solidFill>
              <a:srgbClr val="00703C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5474C9F-69CB-CC18-BBB7-4A68504FCF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052" y="19408"/>
              <a:ext cx="347744" cy="355753"/>
            </a:xfrm>
            <a:prstGeom prst="rect">
              <a:avLst/>
            </a:prstGeom>
          </p:spPr>
        </p:pic>
      </p:grp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F20A7FDD-45DF-344D-6D14-A90055C7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8904" y="6602046"/>
            <a:ext cx="2743200" cy="365125"/>
          </a:xfrm>
        </p:spPr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6ABDF3D3-5BB4-40D3-8527-39FA07D679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F035E7E-1E96-71E9-7C79-704FEC1EE1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32050" y="6544166"/>
            <a:ext cx="49278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Underwater Optical Backscatter Communication using Acousto-Optic Beam Steering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981BB75-24AF-77EC-6056-5DCF069B13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5476" y="8650"/>
            <a:ext cx="1272988" cy="3475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28E0E09-1CBE-C40C-904B-1FD20116A053}"/>
              </a:ext>
            </a:extLst>
          </p:cNvPr>
          <p:cNvGrpSpPr/>
          <p:nvPr userDrawn="1"/>
        </p:nvGrpSpPr>
        <p:grpSpPr>
          <a:xfrm>
            <a:off x="0" y="6426498"/>
            <a:ext cx="1069893" cy="425053"/>
            <a:chOff x="0" y="6426498"/>
            <a:chExt cx="1069893" cy="425053"/>
          </a:xfrm>
        </p:grpSpPr>
        <p:pic>
          <p:nvPicPr>
            <p:cNvPr id="11" name="Picture 10" descr="A group of colorful squares with letters&#10;&#10;AI-generated content may be incorrect.">
              <a:extLst>
                <a:ext uri="{FF2B5EF4-FFF2-40B4-BE49-F238E27FC236}">
                  <a16:creationId xmlns:a16="http://schemas.microsoft.com/office/drawing/2014/main" id="{8E7EDCD4-0207-73DE-8E26-5E31B71A14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61"/>
            <a:stretch>
              <a:fillRect/>
            </a:stretch>
          </p:blipFill>
          <p:spPr>
            <a:xfrm>
              <a:off x="0" y="6426498"/>
              <a:ext cx="588723" cy="42228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49F992-C0B1-A6CD-CF66-7A10D054ED61}"/>
                </a:ext>
              </a:extLst>
            </p:cNvPr>
            <p:cNvSpPr txBox="1"/>
            <p:nvPr userDrawn="1"/>
          </p:nvSpPr>
          <p:spPr>
            <a:xfrm>
              <a:off x="538978" y="648221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673C"/>
                  </a:solidFill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Lab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0689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2E4108D2-B688-4C24-99D8-F9242BD373FE}" type="datetime1">
              <a:rPr lang="en-US" smtClean="0"/>
              <a:pPr/>
              <a:t>11/11/2025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5028DE-1D93-DA5F-1494-AD411E553287}"/>
              </a:ext>
            </a:extLst>
          </p:cNvPr>
          <p:cNvGrpSpPr/>
          <p:nvPr userDrawn="1"/>
        </p:nvGrpSpPr>
        <p:grpSpPr>
          <a:xfrm>
            <a:off x="-6263" y="-6263"/>
            <a:ext cx="407096" cy="422285"/>
            <a:chOff x="-6263" y="-6263"/>
            <a:chExt cx="407096" cy="422285"/>
          </a:xfrm>
        </p:grpSpPr>
        <p:sp>
          <p:nvSpPr>
            <p:cNvPr id="17" name="Rectangle">
              <a:extLst>
                <a:ext uri="{FF2B5EF4-FFF2-40B4-BE49-F238E27FC236}">
                  <a16:creationId xmlns:a16="http://schemas.microsoft.com/office/drawing/2014/main" id="{F789F256-D335-7FF2-6D6B-28F0DA50B58E}"/>
                </a:ext>
              </a:extLst>
            </p:cNvPr>
            <p:cNvSpPr/>
            <p:nvPr userDrawn="1"/>
          </p:nvSpPr>
          <p:spPr>
            <a:xfrm>
              <a:off x="-6263" y="-6263"/>
              <a:ext cx="407096" cy="422285"/>
            </a:xfrm>
            <a:prstGeom prst="rect">
              <a:avLst/>
            </a:prstGeom>
            <a:solidFill>
              <a:srgbClr val="00703C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87698408-F555-F799-2BE6-32A80DFBA6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052" y="19408"/>
              <a:ext cx="347744" cy="355753"/>
            </a:xfrm>
            <a:prstGeom prst="rect">
              <a:avLst/>
            </a:prstGeom>
          </p:spPr>
        </p:pic>
      </p:grp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F66E72DA-D365-C868-3B42-65B802AE4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8904" y="6602046"/>
            <a:ext cx="2743200" cy="365125"/>
          </a:xfrm>
        </p:spPr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6ABDF3D3-5BB4-40D3-8527-39FA07D679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39BD72E-7B8E-8FFC-EEA7-B82190200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2050" y="6544166"/>
            <a:ext cx="49278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Underwater Optical Backscatter Communication using Acousto-Optic Beam Steering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09DB0F1-A537-F9A0-CAAD-642961ED280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5476" y="8650"/>
            <a:ext cx="1272988" cy="34756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7716778-BC39-72B6-313B-B61989155FF5}"/>
              </a:ext>
            </a:extLst>
          </p:cNvPr>
          <p:cNvGrpSpPr/>
          <p:nvPr userDrawn="1"/>
        </p:nvGrpSpPr>
        <p:grpSpPr>
          <a:xfrm>
            <a:off x="0" y="6426498"/>
            <a:ext cx="1069893" cy="425053"/>
            <a:chOff x="0" y="6426498"/>
            <a:chExt cx="1069893" cy="425053"/>
          </a:xfrm>
        </p:grpSpPr>
        <p:pic>
          <p:nvPicPr>
            <p:cNvPr id="7" name="Picture 6" descr="A group of colorful squares with letters&#10;&#10;AI-generated content may be incorrect.">
              <a:extLst>
                <a:ext uri="{FF2B5EF4-FFF2-40B4-BE49-F238E27FC236}">
                  <a16:creationId xmlns:a16="http://schemas.microsoft.com/office/drawing/2014/main" id="{3F7D1676-DA16-FA6B-CD06-508EC6BD52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61"/>
            <a:stretch>
              <a:fillRect/>
            </a:stretch>
          </p:blipFill>
          <p:spPr>
            <a:xfrm>
              <a:off x="0" y="6426498"/>
              <a:ext cx="588723" cy="42228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09A972-9B11-C8BE-166B-9F0B59A2D894}"/>
                </a:ext>
              </a:extLst>
            </p:cNvPr>
            <p:cNvSpPr txBox="1"/>
            <p:nvPr userDrawn="1"/>
          </p:nvSpPr>
          <p:spPr>
            <a:xfrm>
              <a:off x="538978" y="648221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673C"/>
                  </a:solidFill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Lab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1160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9C503496-70E3-403A-AB6B-5FAE5BCF892C}" type="datetime1">
              <a:rPr lang="en-US" smtClean="0"/>
              <a:pPr/>
              <a:t>11/11/2025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391908-D598-B255-3C4C-40E8CDA64955}"/>
              </a:ext>
            </a:extLst>
          </p:cNvPr>
          <p:cNvGrpSpPr/>
          <p:nvPr userDrawn="1"/>
        </p:nvGrpSpPr>
        <p:grpSpPr>
          <a:xfrm>
            <a:off x="-6263" y="-6263"/>
            <a:ext cx="407096" cy="422285"/>
            <a:chOff x="-6263" y="-6263"/>
            <a:chExt cx="407096" cy="422285"/>
          </a:xfrm>
        </p:grpSpPr>
        <p:sp>
          <p:nvSpPr>
            <p:cNvPr id="16" name="Rectangle">
              <a:extLst>
                <a:ext uri="{FF2B5EF4-FFF2-40B4-BE49-F238E27FC236}">
                  <a16:creationId xmlns:a16="http://schemas.microsoft.com/office/drawing/2014/main" id="{5ADDF01B-7D5F-E706-8611-91CA457232E2}"/>
                </a:ext>
              </a:extLst>
            </p:cNvPr>
            <p:cNvSpPr/>
            <p:nvPr userDrawn="1"/>
          </p:nvSpPr>
          <p:spPr>
            <a:xfrm>
              <a:off x="-6263" y="-6263"/>
              <a:ext cx="407096" cy="422285"/>
            </a:xfrm>
            <a:prstGeom prst="rect">
              <a:avLst/>
            </a:prstGeom>
            <a:solidFill>
              <a:srgbClr val="00703C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90BFF2A-DE94-EA6F-3F0F-1FA18785E1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052" y="19408"/>
              <a:ext cx="347744" cy="355753"/>
            </a:xfrm>
            <a:prstGeom prst="rect">
              <a:avLst/>
            </a:prstGeom>
          </p:spPr>
        </p:pic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C496B05-A5AC-8752-004B-871E8174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8904" y="6602046"/>
            <a:ext cx="2743200" cy="365125"/>
          </a:xfrm>
        </p:spPr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6ABDF3D3-5BB4-40D3-8527-39FA07D679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542C66-9658-5810-04DE-943C4E0E9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2050" y="6544166"/>
            <a:ext cx="49278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Underwater Optical Backscatter Communication using Acousto-Optic Beam Steering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5919B65-C2AA-9409-5978-CDF6DF1C21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5476" y="8650"/>
            <a:ext cx="1272988" cy="34756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D3FB527-F8D4-E307-A4D5-9DE9108A15C2}"/>
              </a:ext>
            </a:extLst>
          </p:cNvPr>
          <p:cNvGrpSpPr/>
          <p:nvPr userDrawn="1"/>
        </p:nvGrpSpPr>
        <p:grpSpPr>
          <a:xfrm>
            <a:off x="0" y="6426498"/>
            <a:ext cx="1069893" cy="425053"/>
            <a:chOff x="0" y="6426498"/>
            <a:chExt cx="1069893" cy="425053"/>
          </a:xfrm>
        </p:grpSpPr>
        <p:pic>
          <p:nvPicPr>
            <p:cNvPr id="6" name="Picture 5" descr="A group of colorful squares with letters&#10;&#10;AI-generated content may be incorrect.">
              <a:extLst>
                <a:ext uri="{FF2B5EF4-FFF2-40B4-BE49-F238E27FC236}">
                  <a16:creationId xmlns:a16="http://schemas.microsoft.com/office/drawing/2014/main" id="{40D38875-4F33-F2D0-D6FA-0E721C9A61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61"/>
            <a:stretch>
              <a:fillRect/>
            </a:stretch>
          </p:blipFill>
          <p:spPr>
            <a:xfrm>
              <a:off x="0" y="6426498"/>
              <a:ext cx="588723" cy="42228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987C336-B023-0696-6CEF-6D906C8DF1D7}"/>
                </a:ext>
              </a:extLst>
            </p:cNvPr>
            <p:cNvSpPr txBox="1"/>
            <p:nvPr userDrawn="1"/>
          </p:nvSpPr>
          <p:spPr>
            <a:xfrm>
              <a:off x="538978" y="648221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673C"/>
                  </a:solidFill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Lab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8336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>
              <a:defRPr sz="280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2pPr>
            <a:lvl3pPr>
              <a:defRPr sz="240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3pPr>
            <a:lvl4pPr>
              <a:defRPr sz="200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4pPr>
            <a:lvl5pPr>
              <a:defRPr sz="200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63967C22-F592-4AEB-91C4-45F0307908C0}" type="datetime1">
              <a:rPr lang="en-US" smtClean="0"/>
              <a:pPr/>
              <a:t>11/11/2025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9752D5-11B6-390F-8243-3D168601465D}"/>
              </a:ext>
            </a:extLst>
          </p:cNvPr>
          <p:cNvGrpSpPr/>
          <p:nvPr userDrawn="1"/>
        </p:nvGrpSpPr>
        <p:grpSpPr>
          <a:xfrm>
            <a:off x="-6263" y="-6263"/>
            <a:ext cx="407096" cy="422285"/>
            <a:chOff x="-6263" y="-6263"/>
            <a:chExt cx="407096" cy="422285"/>
          </a:xfrm>
        </p:grpSpPr>
        <p:sp>
          <p:nvSpPr>
            <p:cNvPr id="19" name="Rectangle">
              <a:extLst>
                <a:ext uri="{FF2B5EF4-FFF2-40B4-BE49-F238E27FC236}">
                  <a16:creationId xmlns:a16="http://schemas.microsoft.com/office/drawing/2014/main" id="{8DBBE171-0FC5-959C-115C-9D19460C9A85}"/>
                </a:ext>
              </a:extLst>
            </p:cNvPr>
            <p:cNvSpPr/>
            <p:nvPr userDrawn="1"/>
          </p:nvSpPr>
          <p:spPr>
            <a:xfrm>
              <a:off x="-6263" y="-6263"/>
              <a:ext cx="407096" cy="422285"/>
            </a:xfrm>
            <a:prstGeom prst="rect">
              <a:avLst/>
            </a:prstGeom>
            <a:solidFill>
              <a:srgbClr val="00703C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32BC32E9-9C1E-3E56-7796-09DB8B24C4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052" y="19408"/>
              <a:ext cx="347744" cy="355753"/>
            </a:xfrm>
            <a:prstGeom prst="rect">
              <a:avLst/>
            </a:prstGeom>
          </p:spPr>
        </p:pic>
      </p:grp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5E8B9DA-DE5E-B5D6-CF26-83B6C3A6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8904" y="6602046"/>
            <a:ext cx="2743200" cy="365125"/>
          </a:xfrm>
        </p:spPr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6ABDF3D3-5BB4-40D3-8527-39FA07D679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A161517-2B37-49D4-343A-B96BA8EC6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2050" y="6544166"/>
            <a:ext cx="49278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Underwater Optical Backscatter Communication using Acousto-Optic Beam Steering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6AC4C-614B-3DE9-AE16-F7876C6143C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5476" y="8650"/>
            <a:ext cx="1272988" cy="34756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247BA60-37FB-756E-788C-075564C57B51}"/>
              </a:ext>
            </a:extLst>
          </p:cNvPr>
          <p:cNvGrpSpPr/>
          <p:nvPr userDrawn="1"/>
        </p:nvGrpSpPr>
        <p:grpSpPr>
          <a:xfrm>
            <a:off x="0" y="6426498"/>
            <a:ext cx="1069893" cy="425053"/>
            <a:chOff x="0" y="6426498"/>
            <a:chExt cx="1069893" cy="425053"/>
          </a:xfrm>
        </p:grpSpPr>
        <p:pic>
          <p:nvPicPr>
            <p:cNvPr id="9" name="Picture 8" descr="A group of colorful squares with letters&#10;&#10;AI-generated content may be incorrect.">
              <a:extLst>
                <a:ext uri="{FF2B5EF4-FFF2-40B4-BE49-F238E27FC236}">
                  <a16:creationId xmlns:a16="http://schemas.microsoft.com/office/drawing/2014/main" id="{5533E0F9-9101-811F-EC37-C619F6CE40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61"/>
            <a:stretch>
              <a:fillRect/>
            </a:stretch>
          </p:blipFill>
          <p:spPr>
            <a:xfrm>
              <a:off x="0" y="6426498"/>
              <a:ext cx="588723" cy="42228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AF117D-DE62-7D77-65DF-70EFF4024905}"/>
                </a:ext>
              </a:extLst>
            </p:cNvPr>
            <p:cNvSpPr txBox="1"/>
            <p:nvPr userDrawn="1"/>
          </p:nvSpPr>
          <p:spPr>
            <a:xfrm>
              <a:off x="538978" y="648221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673C"/>
                  </a:solidFill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Lab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9607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FA07C597-2F0B-47A8-95E0-850F85EF271D}" type="datetime1">
              <a:rPr lang="en-US" smtClean="0"/>
              <a:pPr/>
              <a:t>11/11/2025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BA36238-C611-E3AD-CF43-370D85C16029}"/>
              </a:ext>
            </a:extLst>
          </p:cNvPr>
          <p:cNvGrpSpPr/>
          <p:nvPr userDrawn="1"/>
        </p:nvGrpSpPr>
        <p:grpSpPr>
          <a:xfrm>
            <a:off x="-6263" y="-6263"/>
            <a:ext cx="407096" cy="422285"/>
            <a:chOff x="-6263" y="-6263"/>
            <a:chExt cx="407096" cy="422285"/>
          </a:xfrm>
        </p:grpSpPr>
        <p:sp>
          <p:nvSpPr>
            <p:cNvPr id="19" name="Rectangle">
              <a:extLst>
                <a:ext uri="{FF2B5EF4-FFF2-40B4-BE49-F238E27FC236}">
                  <a16:creationId xmlns:a16="http://schemas.microsoft.com/office/drawing/2014/main" id="{85193D11-045A-42FE-EE3C-E7CC975DC1E1}"/>
                </a:ext>
              </a:extLst>
            </p:cNvPr>
            <p:cNvSpPr/>
            <p:nvPr userDrawn="1"/>
          </p:nvSpPr>
          <p:spPr>
            <a:xfrm>
              <a:off x="-6263" y="-6263"/>
              <a:ext cx="407096" cy="422285"/>
            </a:xfrm>
            <a:prstGeom prst="rect">
              <a:avLst/>
            </a:prstGeom>
            <a:solidFill>
              <a:srgbClr val="00703C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EF9F77F4-4D59-ECD9-16BA-B57C9C9110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052" y="19408"/>
              <a:ext cx="347744" cy="355753"/>
            </a:xfrm>
            <a:prstGeom prst="rect">
              <a:avLst/>
            </a:prstGeom>
          </p:spPr>
        </p:pic>
      </p:grp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42C67D2-E1FA-6CCD-2804-354C8C36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8904" y="6602046"/>
            <a:ext cx="2743200" cy="365125"/>
          </a:xfrm>
        </p:spPr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6ABDF3D3-5BB4-40D3-8527-39FA07D679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52A676-F1B8-ECE7-4FCF-435BCC0F7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2050" y="6544166"/>
            <a:ext cx="49278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Underwater Optical Backscatter Communication using Acousto-Optic Beam Steering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827A3E-82E3-578B-C389-085B47F4E6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5476" y="8650"/>
            <a:ext cx="1272988" cy="34756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573AADB-8694-B6CA-9BED-1755EAC7BF57}"/>
              </a:ext>
            </a:extLst>
          </p:cNvPr>
          <p:cNvGrpSpPr/>
          <p:nvPr userDrawn="1"/>
        </p:nvGrpSpPr>
        <p:grpSpPr>
          <a:xfrm>
            <a:off x="0" y="6426498"/>
            <a:ext cx="1069893" cy="425053"/>
            <a:chOff x="0" y="6426498"/>
            <a:chExt cx="1069893" cy="425053"/>
          </a:xfrm>
        </p:grpSpPr>
        <p:pic>
          <p:nvPicPr>
            <p:cNvPr id="9" name="Picture 8" descr="A group of colorful squares with letters&#10;&#10;AI-generated content may be incorrect.">
              <a:extLst>
                <a:ext uri="{FF2B5EF4-FFF2-40B4-BE49-F238E27FC236}">
                  <a16:creationId xmlns:a16="http://schemas.microsoft.com/office/drawing/2014/main" id="{9ED40F31-6D3B-B3A1-1552-6EC209F264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61"/>
            <a:stretch>
              <a:fillRect/>
            </a:stretch>
          </p:blipFill>
          <p:spPr>
            <a:xfrm>
              <a:off x="0" y="6426498"/>
              <a:ext cx="588723" cy="42228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E2AB0B-47C9-E00A-51DF-000F5AB784FA}"/>
                </a:ext>
              </a:extLst>
            </p:cNvPr>
            <p:cNvSpPr txBox="1"/>
            <p:nvPr userDrawn="1"/>
          </p:nvSpPr>
          <p:spPr>
            <a:xfrm>
              <a:off x="538978" y="648221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673C"/>
                  </a:solidFill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Lab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7773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2pPr>
            <a:lvl3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3pPr>
            <a:lvl4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4pPr>
            <a:lvl5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1ACEF8D8-6774-44DE-89CB-1526A81119B4}" type="datetime1">
              <a:rPr lang="en-US" smtClean="0"/>
              <a:pPr/>
              <a:t>11/11/2025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B24B226-A907-BDB0-D364-36EAE1FB6656}"/>
              </a:ext>
            </a:extLst>
          </p:cNvPr>
          <p:cNvGrpSpPr/>
          <p:nvPr userDrawn="1"/>
        </p:nvGrpSpPr>
        <p:grpSpPr>
          <a:xfrm>
            <a:off x="-6263" y="-6263"/>
            <a:ext cx="407096" cy="422285"/>
            <a:chOff x="-6263" y="-6263"/>
            <a:chExt cx="407096" cy="422285"/>
          </a:xfrm>
        </p:grpSpPr>
        <p:sp>
          <p:nvSpPr>
            <p:cNvPr id="18" name="Rectangle">
              <a:extLst>
                <a:ext uri="{FF2B5EF4-FFF2-40B4-BE49-F238E27FC236}">
                  <a16:creationId xmlns:a16="http://schemas.microsoft.com/office/drawing/2014/main" id="{AACBE724-CDCB-CCC7-5BC5-03612D725C58}"/>
                </a:ext>
              </a:extLst>
            </p:cNvPr>
            <p:cNvSpPr/>
            <p:nvPr userDrawn="1"/>
          </p:nvSpPr>
          <p:spPr>
            <a:xfrm>
              <a:off x="-6263" y="-6263"/>
              <a:ext cx="407096" cy="422285"/>
            </a:xfrm>
            <a:prstGeom prst="rect">
              <a:avLst/>
            </a:prstGeom>
            <a:solidFill>
              <a:srgbClr val="00703C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55DA998E-82C8-8CA7-38E8-2645B9A91C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052" y="19408"/>
              <a:ext cx="347744" cy="355753"/>
            </a:xfrm>
            <a:prstGeom prst="rect">
              <a:avLst/>
            </a:prstGeom>
          </p:spPr>
        </p:pic>
      </p:grp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EF08216-DE31-70A2-04BE-FDEB80347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8904" y="6602046"/>
            <a:ext cx="2743200" cy="365125"/>
          </a:xfrm>
        </p:spPr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6ABDF3D3-5BB4-40D3-8527-39FA07D679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B541B-9EBB-8A8C-5CAF-400F768BC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2050" y="6544166"/>
            <a:ext cx="49278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Underwater Optical Backscatter Communication using Acousto-Optic Beam Steering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0305789-BBB8-585A-6EEC-EAD80D47BE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5476" y="8650"/>
            <a:ext cx="1272988" cy="34756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DFD40FC-9A4F-0D9A-3630-E33928F73EBD}"/>
              </a:ext>
            </a:extLst>
          </p:cNvPr>
          <p:cNvGrpSpPr/>
          <p:nvPr userDrawn="1"/>
        </p:nvGrpSpPr>
        <p:grpSpPr>
          <a:xfrm>
            <a:off x="0" y="6426498"/>
            <a:ext cx="1069893" cy="425053"/>
            <a:chOff x="0" y="6426498"/>
            <a:chExt cx="1069893" cy="425053"/>
          </a:xfrm>
        </p:grpSpPr>
        <p:pic>
          <p:nvPicPr>
            <p:cNvPr id="8" name="Picture 7" descr="A group of colorful squares with letters&#10;&#10;AI-generated content may be incorrect.">
              <a:extLst>
                <a:ext uri="{FF2B5EF4-FFF2-40B4-BE49-F238E27FC236}">
                  <a16:creationId xmlns:a16="http://schemas.microsoft.com/office/drawing/2014/main" id="{A46B9602-BEF9-83E8-1581-DEE08555A2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61"/>
            <a:stretch>
              <a:fillRect/>
            </a:stretch>
          </p:blipFill>
          <p:spPr>
            <a:xfrm>
              <a:off x="0" y="6426498"/>
              <a:ext cx="588723" cy="4222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AF81BE-8DC9-F4E1-0BB1-665AA06B3C27}"/>
                </a:ext>
              </a:extLst>
            </p:cNvPr>
            <p:cNvSpPr txBox="1"/>
            <p:nvPr userDrawn="1"/>
          </p:nvSpPr>
          <p:spPr>
            <a:xfrm>
              <a:off x="538978" y="648221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673C"/>
                  </a:solidFill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Lab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8732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  <a:lvl2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2pPr>
            <a:lvl3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3pPr>
            <a:lvl4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4pPr>
            <a:lvl5pPr>
              <a:def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40D339CE-CD6D-447E-A434-EC7676C6DAFC}" type="datetime1">
              <a:rPr lang="en-US" smtClean="0"/>
              <a:pPr/>
              <a:t>11/11/2025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27DF64-473C-90FB-8DC9-684F1DE9369A}"/>
              </a:ext>
            </a:extLst>
          </p:cNvPr>
          <p:cNvGrpSpPr/>
          <p:nvPr userDrawn="1"/>
        </p:nvGrpSpPr>
        <p:grpSpPr>
          <a:xfrm>
            <a:off x="-6263" y="-6263"/>
            <a:ext cx="407096" cy="422285"/>
            <a:chOff x="-6263" y="-6263"/>
            <a:chExt cx="407096" cy="422285"/>
          </a:xfrm>
        </p:grpSpPr>
        <p:sp>
          <p:nvSpPr>
            <p:cNvPr id="18" name="Rectangle">
              <a:extLst>
                <a:ext uri="{FF2B5EF4-FFF2-40B4-BE49-F238E27FC236}">
                  <a16:creationId xmlns:a16="http://schemas.microsoft.com/office/drawing/2014/main" id="{E978E7F4-C187-2F5E-2ECF-35D62F75292D}"/>
                </a:ext>
              </a:extLst>
            </p:cNvPr>
            <p:cNvSpPr/>
            <p:nvPr userDrawn="1"/>
          </p:nvSpPr>
          <p:spPr>
            <a:xfrm>
              <a:off x="-6263" y="-6263"/>
              <a:ext cx="407096" cy="422285"/>
            </a:xfrm>
            <a:prstGeom prst="rect">
              <a:avLst/>
            </a:prstGeom>
            <a:solidFill>
              <a:srgbClr val="00703C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endParaRP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45646D3E-5411-6478-419C-7A223D453E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052" y="19408"/>
              <a:ext cx="347744" cy="355753"/>
            </a:xfrm>
            <a:prstGeom prst="rect">
              <a:avLst/>
            </a:prstGeom>
          </p:spPr>
        </p:pic>
      </p:grp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E3D5663-6FA8-6D35-3D8A-0F467AAF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8904" y="6602046"/>
            <a:ext cx="2743200" cy="365125"/>
          </a:xfrm>
        </p:spPr>
        <p:txBody>
          <a:bodyPr/>
          <a:lstStyle>
            <a:lvl1pPr>
              <a:defRPr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6ABDF3D3-5BB4-40D3-8527-39FA07D679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39874-F7D7-4F56-71B2-350107D20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2050" y="6544166"/>
            <a:ext cx="49278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F673C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r>
              <a:rPr lang="en-US" dirty="0"/>
              <a:t>Underwater Optical Backscatter Communication using Acousto-Optic Beam Steering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CA87236-CE69-6CFD-004C-19BBF5F2C3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5476" y="8650"/>
            <a:ext cx="1272988" cy="34756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4393348-AB04-834A-8C0B-E1F31AC7A9CC}"/>
              </a:ext>
            </a:extLst>
          </p:cNvPr>
          <p:cNvGrpSpPr/>
          <p:nvPr userDrawn="1"/>
        </p:nvGrpSpPr>
        <p:grpSpPr>
          <a:xfrm>
            <a:off x="0" y="6426498"/>
            <a:ext cx="1069893" cy="425053"/>
            <a:chOff x="0" y="6426498"/>
            <a:chExt cx="1069893" cy="425053"/>
          </a:xfrm>
        </p:grpSpPr>
        <p:pic>
          <p:nvPicPr>
            <p:cNvPr id="8" name="Picture 7" descr="A group of colorful squares with letters&#10;&#10;AI-generated content may be incorrect.">
              <a:extLst>
                <a:ext uri="{FF2B5EF4-FFF2-40B4-BE49-F238E27FC236}">
                  <a16:creationId xmlns:a16="http://schemas.microsoft.com/office/drawing/2014/main" id="{99B952B1-D53B-692D-DAA6-34FF720E4E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61"/>
            <a:stretch>
              <a:fillRect/>
            </a:stretch>
          </p:blipFill>
          <p:spPr>
            <a:xfrm>
              <a:off x="0" y="6426498"/>
              <a:ext cx="588723" cy="4222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EC04AB4-E164-3BE3-A1BB-655A5DF9EFE5}"/>
                </a:ext>
              </a:extLst>
            </p:cNvPr>
            <p:cNvSpPr txBox="1"/>
            <p:nvPr userDrawn="1"/>
          </p:nvSpPr>
          <p:spPr>
            <a:xfrm>
              <a:off x="538978" y="648221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673C"/>
                  </a:solidFill>
                  <a:latin typeface="Linux Biolinum" panose="02000503000000000000" pitchFamily="2" charset="0"/>
                  <a:ea typeface="Linux Biolinum" panose="02000503000000000000" pitchFamily="2" charset="0"/>
                  <a:cs typeface="Linux Biolinum" panose="02000503000000000000" pitchFamily="2" charset="0"/>
                </a:rPr>
                <a:t>Lab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1245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23956" y="3651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2">
                    <a:lumMod val="75000"/>
                  </a:schemeClr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2747C274-6BEE-43F0-ADB2-0090040ECA67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8904" y="660204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2">
                    <a:lumMod val="75000"/>
                  </a:schemeClr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defRPr>
            </a:lvl1pPr>
          </a:lstStyle>
          <a:p>
            <a:fld id="{6ABDF3D3-5BB4-40D3-8527-39FA07D679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47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Linux Biolinum" panose="02000503000000000000" pitchFamily="2" charset="0"/>
          <a:ea typeface="Linux Biolinum" panose="02000503000000000000" pitchFamily="2" charset="0"/>
          <a:cs typeface="Linux Biolinum" panose="02000503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inux Biolinum" panose="02000503000000000000" pitchFamily="2" charset="0"/>
          <a:ea typeface="Linux Biolinum" panose="02000503000000000000" pitchFamily="2" charset="0"/>
          <a:cs typeface="Linux Biolinum" panose="02000503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inux Biolinum" panose="02000503000000000000" pitchFamily="2" charset="0"/>
          <a:ea typeface="Linux Biolinum" panose="02000503000000000000" pitchFamily="2" charset="0"/>
          <a:cs typeface="Linux Biolinum" panose="02000503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inux Biolinum" panose="02000503000000000000" pitchFamily="2" charset="0"/>
          <a:ea typeface="Linux Biolinum" panose="02000503000000000000" pitchFamily="2" charset="0"/>
          <a:cs typeface="Linux Biolinum" panose="02000503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inux Biolinum" panose="02000503000000000000" pitchFamily="2" charset="0"/>
          <a:ea typeface="Linux Biolinum" panose="02000503000000000000" pitchFamily="2" charset="0"/>
          <a:cs typeface="Linux Biolinum" panose="02000503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inux Biolinum" panose="02000503000000000000" pitchFamily="2" charset="0"/>
          <a:ea typeface="Linux Biolinum" panose="02000503000000000000" pitchFamily="2" charset="0"/>
          <a:cs typeface="Linux Biolinum" panose="02000503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14.sv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6.sv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5249F-F763-07D2-BC93-3860127E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F34E8-DE67-E7A4-6D5F-9BD7392A6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FDB02-2A33-C86C-EE02-F1077FA46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Underwater Optical Backscatter Communication using Acousto-Optic Beam Steering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7840B-5608-BEEE-D0D4-2942EDD0B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F3D3-5BB4-40D3-8527-39FA07D679FA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F5CB82-1AAD-3389-D0EE-8BB93126B5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36" y="2214531"/>
            <a:ext cx="10680192" cy="2670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2C4547-6BD0-02E4-0C68-72FCB7DD7F34}"/>
              </a:ext>
            </a:extLst>
          </p:cNvPr>
          <p:cNvSpPr txBox="1"/>
          <p:nvPr/>
        </p:nvSpPr>
        <p:spPr>
          <a:xfrm>
            <a:off x="10982978" y="484134"/>
            <a:ext cx="734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28287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81">
        <p159:morph option="byObject"/>
      </p:transition>
    </mc:Choice>
    <mc:Fallback>
      <p:transition spd="slow" advTm="108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96D8-CA3C-C7D6-B12D-73BA796E3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FB004-2B29-09A2-3EA3-49619AD5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2F9F2-3685-256D-0D96-9D9C5CDFE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Underwater Optical Backscatter Communication using Acousto-Optic Beam Steering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FD5F64-02F5-44CC-EBAD-07D7AB487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F3D3-5BB4-40D3-8527-39FA07D679FA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465126-E3C3-EC3C-43BB-50AF106FF6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36" y="2214531"/>
            <a:ext cx="10680192" cy="2670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994FF6-2E47-B713-19B4-98E94EAAF2BD}"/>
              </a:ext>
            </a:extLst>
          </p:cNvPr>
          <p:cNvSpPr txBox="1"/>
          <p:nvPr/>
        </p:nvSpPr>
        <p:spPr>
          <a:xfrm>
            <a:off x="5868540" y="3364889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water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9EB96-3E65-AECE-A62A-C9AC58CE04A5}"/>
              </a:ext>
            </a:extLst>
          </p:cNvPr>
          <p:cNvSpPr txBox="1"/>
          <p:nvPr/>
        </p:nvSpPr>
        <p:spPr>
          <a:xfrm>
            <a:off x="10982978" y="484134"/>
            <a:ext cx="734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17922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81">
        <p159:morph option="byObject"/>
      </p:transition>
    </mc:Choice>
    <mc:Fallback>
      <p:transition spd="slow" advTm="108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A0162-0B5F-72E0-EAA2-1C56A3F4D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BA3D-BEB7-C2A8-0BF2-175BF6F6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and light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ED26F-A66B-350D-7F6A-004949387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Underwater Optical Backscatter Communication using Acousto-Optic Beam Steering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E8318-9728-0AB0-D258-A6D4C89C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F3D3-5BB4-40D3-8527-39FA07D679F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A9AB5-DECE-CA62-C5AE-A7EEFFA09A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36" y="2214531"/>
            <a:ext cx="10680192" cy="2670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222568-7D7D-8C7B-8583-CEED59C29A91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49"/>
          <a:stretch>
            <a:fillRect/>
          </a:stretch>
        </p:blipFill>
        <p:spPr>
          <a:xfrm>
            <a:off x="1124712" y="1371600"/>
            <a:ext cx="10474416" cy="39319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CF6A2B-D3C3-24B8-7212-5155F9122BE3}"/>
              </a:ext>
            </a:extLst>
          </p:cNvPr>
          <p:cNvSpPr txBox="1"/>
          <p:nvPr/>
        </p:nvSpPr>
        <p:spPr>
          <a:xfrm>
            <a:off x="4591012" y="5827363"/>
            <a:ext cx="2486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light goes straight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78404-1E5B-5552-3CDD-39A9A46DBA2E}"/>
              </a:ext>
            </a:extLst>
          </p:cNvPr>
          <p:cNvSpPr txBox="1"/>
          <p:nvPr/>
        </p:nvSpPr>
        <p:spPr>
          <a:xfrm>
            <a:off x="10773853" y="501144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B89FF"/>
                </a:solidFill>
              </a:rPr>
              <a:t>light (↑)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E1494-8831-DE0D-DF00-1BE6ED5B8493}"/>
              </a:ext>
            </a:extLst>
          </p:cNvPr>
          <p:cNvSpPr txBox="1"/>
          <p:nvPr/>
        </p:nvSpPr>
        <p:spPr>
          <a:xfrm>
            <a:off x="10982978" y="484134"/>
            <a:ext cx="734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C5B664-018F-EB7E-CBBA-DBAB8D2FD013}"/>
              </a:ext>
            </a:extLst>
          </p:cNvPr>
          <p:cNvSpPr txBox="1"/>
          <p:nvPr/>
        </p:nvSpPr>
        <p:spPr>
          <a:xfrm>
            <a:off x="5868540" y="3364889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water</a:t>
            </a:r>
          </a:p>
        </p:txBody>
      </p:sp>
    </p:spTree>
    <p:extLst>
      <p:ext uri="{BB962C8B-B14F-4D97-AF65-F5344CB8AC3E}">
        <p14:creationId xmlns:p14="http://schemas.microsoft.com/office/powerpoint/2010/main" val="3948873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558">
        <p159:morph option="byObject"/>
      </p:transition>
    </mc:Choice>
    <mc:Fallback>
      <p:transition spd="slow" advTm="2558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1B8A6-44CB-FC4A-BB29-64D38D68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B35118-19CF-BDF7-BE92-B43865236F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36" y="2211500"/>
            <a:ext cx="10680192" cy="2670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E3BF00-6B97-6E05-5E7C-AE78921F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 in water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4F875-88E9-69AA-34E0-D7D443EE7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Underwater Optical Backscatter Communication using Acousto-Optic Beam Steering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7A26F-8196-F4B2-47E5-8533E36C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F3D3-5BB4-40D3-8527-39FA07D679F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7" name="Picture 16" descr="A green and white striped object&#10;&#10;AI-generated content may be incorrect.">
            <a:extLst>
              <a:ext uri="{FF2B5EF4-FFF2-40B4-BE49-F238E27FC236}">
                <a16:creationId xmlns:a16="http://schemas.microsoft.com/office/drawing/2014/main" id="{33EA0399-32A0-C1EC-F65B-57A57A69B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/>
          <a:stretch>
            <a:fillRect/>
          </a:stretch>
        </p:blipFill>
        <p:spPr>
          <a:xfrm>
            <a:off x="926998" y="2211324"/>
            <a:ext cx="10680192" cy="26700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DDF4FC-DA93-CE2B-7BEA-FEBC774EC160}"/>
              </a:ext>
            </a:extLst>
          </p:cNvPr>
          <p:cNvSpPr txBox="1"/>
          <p:nvPr/>
        </p:nvSpPr>
        <p:spPr>
          <a:xfrm>
            <a:off x="10982978" y="484134"/>
            <a:ext cx="734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3</a:t>
            </a:r>
          </a:p>
        </p:txBody>
      </p:sp>
      <p:pic>
        <p:nvPicPr>
          <p:cNvPr id="8" name="Picture 7" descr="A green and white line&#10;&#10;AI-generated content may be incorrect.">
            <a:extLst>
              <a:ext uri="{FF2B5EF4-FFF2-40B4-BE49-F238E27FC236}">
                <a16:creationId xmlns:a16="http://schemas.microsoft.com/office/drawing/2014/main" id="{611CA8A0-D7A9-CEBA-8106-96BC19A229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0"/>
          <a:stretch>
            <a:fillRect/>
          </a:stretch>
        </p:blipFill>
        <p:spPr>
          <a:xfrm>
            <a:off x="926998" y="2203704"/>
            <a:ext cx="10669556" cy="2670048"/>
          </a:xfrm>
          <a:prstGeom prst="rect">
            <a:avLst/>
          </a:prstGeom>
          <a:effectLst>
            <a:glow rad="63500">
              <a:schemeClr val="tx1">
                <a:alpha val="15000"/>
              </a:schemeClr>
            </a:glo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77C01B-B4D8-6901-05E8-3938E65F4997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49"/>
          <a:stretch>
            <a:fillRect/>
          </a:stretch>
        </p:blipFill>
        <p:spPr>
          <a:xfrm>
            <a:off x="1124712" y="1371600"/>
            <a:ext cx="10474416" cy="39319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84B852-FA5B-BB78-36E5-F22FE51F1B25}"/>
              </a:ext>
            </a:extLst>
          </p:cNvPr>
          <p:cNvSpPr txBox="1"/>
          <p:nvPr/>
        </p:nvSpPr>
        <p:spPr>
          <a:xfrm>
            <a:off x="10773853" y="501144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B89FF"/>
                </a:solidFill>
              </a:rPr>
              <a:t>light (↑)</a:t>
            </a:r>
          </a:p>
        </p:txBody>
      </p:sp>
      <p:pic>
        <p:nvPicPr>
          <p:cNvPr id="11" name="Graphic 10" descr="Volume with solid fill">
            <a:extLst>
              <a:ext uri="{FF2B5EF4-FFF2-40B4-BE49-F238E27FC236}">
                <a16:creationId xmlns:a16="http://schemas.microsoft.com/office/drawing/2014/main" id="{733CFC1F-6400-5619-942D-8CD6512E59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196" y="1948266"/>
            <a:ext cx="1378007" cy="320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68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4988">
        <p159:morph option="byObject"/>
      </p:transition>
    </mc:Choice>
    <mc:Fallback>
      <p:transition spd="slow" advTm="498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1A231-BEE4-C592-0DD0-AA74CEF56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436B-36A1-79D5-C389-40933FEBC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 in sound altered water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F251D-9C37-3A94-8CF9-C58C76B64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Underwater Optical Backscatter Communication using Acousto-Optic Beam Steering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B4433-63EA-869E-CE7E-0FD1D7E3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F3D3-5BB4-40D3-8527-39FA07D679F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BDEA1C-D48A-A93B-B628-B532131601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36" y="2211500"/>
            <a:ext cx="10680192" cy="26700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5BD894-F3C3-C570-1C48-3B137D618B68}"/>
              </a:ext>
            </a:extLst>
          </p:cNvPr>
          <p:cNvSpPr txBox="1"/>
          <p:nvPr/>
        </p:nvSpPr>
        <p:spPr>
          <a:xfrm>
            <a:off x="4591012" y="5827363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light </a:t>
            </a:r>
            <a:r>
              <a:rPr lang="en-US" sz="2400" b="1" dirty="0">
                <a:solidFill>
                  <a:srgbClr val="1F673C"/>
                </a:solidFill>
              </a:rPr>
              <a:t>focuses</a:t>
            </a:r>
          </a:p>
        </p:txBody>
      </p:sp>
      <p:pic>
        <p:nvPicPr>
          <p:cNvPr id="8" name="Picture 7" descr="A green and white striped object&#10;&#10;AI-generated content may be incorrect.">
            <a:extLst>
              <a:ext uri="{FF2B5EF4-FFF2-40B4-BE49-F238E27FC236}">
                <a16:creationId xmlns:a16="http://schemas.microsoft.com/office/drawing/2014/main" id="{A0D2EAE7-97D2-0CDC-F29B-4D2AC87973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/>
          <a:stretch>
            <a:fillRect/>
          </a:stretch>
        </p:blipFill>
        <p:spPr>
          <a:xfrm>
            <a:off x="926998" y="2211324"/>
            <a:ext cx="10680192" cy="2670048"/>
          </a:xfrm>
          <a:prstGeom prst="rect">
            <a:avLst/>
          </a:prstGeom>
        </p:spPr>
      </p:pic>
      <p:pic>
        <p:nvPicPr>
          <p:cNvPr id="14" name="Picture 13" descr="Blue lights on a black background&#10;&#10;AI-generated content may be incorrect.">
            <a:extLst>
              <a:ext uri="{FF2B5EF4-FFF2-40B4-BE49-F238E27FC236}">
                <a16:creationId xmlns:a16="http://schemas.microsoft.com/office/drawing/2014/main" id="{85098B61-1A15-CD4C-EC66-A5B975FD32D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06"/>
          <a:stretch>
            <a:fillRect/>
          </a:stretch>
        </p:blipFill>
        <p:spPr>
          <a:xfrm>
            <a:off x="1120857" y="1371600"/>
            <a:ext cx="10476991" cy="3935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64CC90-3B50-4530-1F8B-9F43BDD745D5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49"/>
          <a:stretch>
            <a:fillRect/>
          </a:stretch>
        </p:blipFill>
        <p:spPr>
          <a:xfrm>
            <a:off x="1124712" y="1371600"/>
            <a:ext cx="10474416" cy="39319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443144-3D9C-E7AE-CF64-002DF0ACCF6D}"/>
              </a:ext>
            </a:extLst>
          </p:cNvPr>
          <p:cNvSpPr txBox="1"/>
          <p:nvPr/>
        </p:nvSpPr>
        <p:spPr>
          <a:xfrm>
            <a:off x="10773853" y="501144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B89FF"/>
                </a:solidFill>
              </a:rPr>
              <a:t>light (↑)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3CAE4-A2F6-4705-07E9-23A7A2C38713}"/>
              </a:ext>
            </a:extLst>
          </p:cNvPr>
          <p:cNvSpPr txBox="1"/>
          <p:nvPr/>
        </p:nvSpPr>
        <p:spPr>
          <a:xfrm>
            <a:off x="10982978" y="484134"/>
            <a:ext cx="734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4</a:t>
            </a:r>
          </a:p>
        </p:txBody>
      </p:sp>
      <p:pic>
        <p:nvPicPr>
          <p:cNvPr id="11" name="Graphic 10" descr="Volume with solid fill">
            <a:extLst>
              <a:ext uri="{FF2B5EF4-FFF2-40B4-BE49-F238E27FC236}">
                <a16:creationId xmlns:a16="http://schemas.microsoft.com/office/drawing/2014/main" id="{62DA2FAE-2C5C-2F0B-DA83-CAEA51B77E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196" y="1948266"/>
            <a:ext cx="1378007" cy="320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200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3437">
        <p159:morph option="byObject"/>
      </p:transition>
    </mc:Choice>
    <mc:Fallback>
      <p:transition spd="slow" advTm="34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5F26C-5A11-0AAA-B135-33AC1EDE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 descr="Camera with solid fill">
            <a:extLst>
              <a:ext uri="{FF2B5EF4-FFF2-40B4-BE49-F238E27FC236}">
                <a16:creationId xmlns:a16="http://schemas.microsoft.com/office/drawing/2014/main" id="{8F74A636-2C15-74F1-2DD6-5C067DA68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6394" y="1553921"/>
            <a:ext cx="765265" cy="76526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65B4D0A-AD9D-5691-546B-C9F780BBBBA8}"/>
              </a:ext>
            </a:extLst>
          </p:cNvPr>
          <p:cNvSpPr txBox="1"/>
          <p:nvPr/>
        </p:nvSpPr>
        <p:spPr>
          <a:xfrm>
            <a:off x="5303903" y="1311923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focus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78E8BE-0E5A-2BF6-462A-875A16B655B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36" y="2214531"/>
            <a:ext cx="10680192" cy="2670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E499EA-69EE-1FAA-350F-26E7DAFA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communication: bit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7FE34-BBCD-029A-3545-963AFC3FF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Underwater Optical Backscatter Communication using Acousto-Optic Beam Steering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033B2-7FA0-6B95-E832-1EE26FB7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F3D3-5BB4-40D3-8527-39FA07D679F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6" name="Picture 15" descr="A green and white striped object&#10;&#10;AI-generated content may be incorrect.">
            <a:extLst>
              <a:ext uri="{FF2B5EF4-FFF2-40B4-BE49-F238E27FC236}">
                <a16:creationId xmlns:a16="http://schemas.microsoft.com/office/drawing/2014/main" id="{7E1209FD-7A8D-CC47-0EFB-9EB9B017D1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/>
          <a:stretch>
            <a:fillRect/>
          </a:stretch>
        </p:blipFill>
        <p:spPr>
          <a:xfrm>
            <a:off x="926998" y="2211324"/>
            <a:ext cx="10680192" cy="2670048"/>
          </a:xfrm>
          <a:prstGeom prst="rect">
            <a:avLst/>
          </a:prstGeom>
        </p:spPr>
      </p:pic>
      <p:pic>
        <p:nvPicPr>
          <p:cNvPr id="18" name="Picture 17" descr="A green and white line&#10;&#10;AI-generated content may be incorrect.">
            <a:extLst>
              <a:ext uri="{FF2B5EF4-FFF2-40B4-BE49-F238E27FC236}">
                <a16:creationId xmlns:a16="http://schemas.microsoft.com/office/drawing/2014/main" id="{837F0168-CE13-3309-D682-6E77239C0B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0"/>
          <a:stretch>
            <a:fillRect/>
          </a:stretch>
        </p:blipFill>
        <p:spPr>
          <a:xfrm>
            <a:off x="926998" y="2203704"/>
            <a:ext cx="10669556" cy="2670048"/>
          </a:xfrm>
          <a:prstGeom prst="rect">
            <a:avLst/>
          </a:prstGeom>
          <a:effectLst>
            <a:glow rad="63500">
              <a:schemeClr val="tx1">
                <a:alpha val="15000"/>
              </a:schemeClr>
            </a:glow>
          </a:effectLst>
        </p:spPr>
      </p:pic>
      <p:pic>
        <p:nvPicPr>
          <p:cNvPr id="10" name="Graphic 9" descr="Volume with solid fill">
            <a:extLst>
              <a:ext uri="{FF2B5EF4-FFF2-40B4-BE49-F238E27FC236}">
                <a16:creationId xmlns:a16="http://schemas.microsoft.com/office/drawing/2014/main" id="{BA8D1D8D-D266-5657-1203-B9FBA13B1D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196" y="1948266"/>
            <a:ext cx="1378007" cy="3202577"/>
          </a:xfrm>
          <a:prstGeom prst="rect">
            <a:avLst/>
          </a:prstGeom>
        </p:spPr>
      </p:pic>
      <p:pic>
        <p:nvPicPr>
          <p:cNvPr id="11" name="Picture 10" descr="Blue lights on a black background&#10;&#10;AI-generated content may be incorrect.">
            <a:extLst>
              <a:ext uri="{FF2B5EF4-FFF2-40B4-BE49-F238E27FC236}">
                <a16:creationId xmlns:a16="http://schemas.microsoft.com/office/drawing/2014/main" id="{CA2FE6C3-3102-56B6-2D0C-C481B3467363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47" r="56935"/>
          <a:stretch>
            <a:fillRect/>
          </a:stretch>
        </p:blipFill>
        <p:spPr>
          <a:xfrm>
            <a:off x="4412512" y="1371600"/>
            <a:ext cx="2530548" cy="39352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32B1C5B-2C0F-AB4B-BC6E-F50A91D9BDBB}"/>
              </a:ext>
            </a:extLst>
          </p:cNvPr>
          <p:cNvSpPr txBox="1"/>
          <p:nvPr/>
        </p:nvSpPr>
        <p:spPr>
          <a:xfrm>
            <a:off x="10773853" y="501144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B89FF"/>
                </a:solidFill>
              </a:rPr>
              <a:t>light (↑)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E3A2C3-588A-4304-BC5F-1AD44D7DA769}"/>
              </a:ext>
            </a:extLst>
          </p:cNvPr>
          <p:cNvSpPr txBox="1"/>
          <p:nvPr/>
        </p:nvSpPr>
        <p:spPr>
          <a:xfrm>
            <a:off x="9791367" y="1614320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0 </a:t>
            </a: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B75CD3-83E3-0686-24EF-2FACA5DAC80F}"/>
              </a:ext>
            </a:extLst>
          </p:cNvPr>
          <p:cNvSpPr txBox="1"/>
          <p:nvPr/>
        </p:nvSpPr>
        <p:spPr>
          <a:xfrm>
            <a:off x="4276591" y="5771049"/>
            <a:ext cx="3919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focus </a:t>
            </a:r>
            <a:r>
              <a:rPr lang="en-US" sz="2400" dirty="0"/>
              <a:t>– high intensity – bit -</a:t>
            </a:r>
            <a:r>
              <a:rPr lang="en-US" sz="2400" b="1" dirty="0">
                <a:solidFill>
                  <a:srgbClr val="D86ECC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3282A7-3A1B-0925-ED26-38AC290130F2}"/>
              </a:ext>
            </a:extLst>
          </p:cNvPr>
          <p:cNvSpPr txBox="1"/>
          <p:nvPr/>
        </p:nvSpPr>
        <p:spPr>
          <a:xfrm>
            <a:off x="10982978" y="484134"/>
            <a:ext cx="734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71585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882">
        <p159:morph option="byObject"/>
      </p:transition>
    </mc:Choice>
    <mc:Fallback>
      <p:transition spd="slow" advTm="2882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45D4E-C7EA-CD2E-A315-C2844B9A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6A947AB0-8730-9DC4-C71A-964B1184B3A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36" y="2214531"/>
            <a:ext cx="10680192" cy="2670048"/>
          </a:xfrm>
          <a:prstGeom prst="rect">
            <a:avLst/>
          </a:prstGeom>
        </p:spPr>
      </p:pic>
      <p:pic>
        <p:nvPicPr>
          <p:cNvPr id="47" name="Picture 46" descr="A green and white striped object&#10;&#10;AI-generated content may be incorrect.">
            <a:extLst>
              <a:ext uri="{FF2B5EF4-FFF2-40B4-BE49-F238E27FC236}">
                <a16:creationId xmlns:a16="http://schemas.microsoft.com/office/drawing/2014/main" id="{2B9F424F-E3CB-D39F-1C3B-5BABAFA949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2" r="8164"/>
          <a:stretch>
            <a:fillRect/>
          </a:stretch>
        </p:blipFill>
        <p:spPr>
          <a:xfrm>
            <a:off x="918935" y="2211324"/>
            <a:ext cx="10680194" cy="2670048"/>
          </a:xfrm>
          <a:prstGeom prst="rect">
            <a:avLst/>
          </a:prstGeom>
        </p:spPr>
      </p:pic>
      <p:pic>
        <p:nvPicPr>
          <p:cNvPr id="49" name="Picture 48" descr="A green and white line&#10;&#10;AI-generated content may be incorrect.">
            <a:extLst>
              <a:ext uri="{FF2B5EF4-FFF2-40B4-BE49-F238E27FC236}">
                <a16:creationId xmlns:a16="http://schemas.microsoft.com/office/drawing/2014/main" id="{2A7B9D9F-32A0-E514-B79D-52E724EA4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" r="8180"/>
          <a:stretch>
            <a:fillRect/>
          </a:stretch>
        </p:blipFill>
        <p:spPr>
          <a:xfrm>
            <a:off x="918933" y="2203704"/>
            <a:ext cx="10680195" cy="2670048"/>
          </a:xfrm>
          <a:prstGeom prst="rect">
            <a:avLst/>
          </a:prstGeom>
          <a:effectLst>
            <a:glow rad="63500">
              <a:schemeClr val="tx1">
                <a:alpha val="15000"/>
              </a:schemeClr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A8E283-0FDB-0E87-9276-03DEBC4F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communication: bit 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5D41A-62E1-16FF-49E3-AD0672CFD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Underwater Optical Backscatter Communication using Acousto-Optic Beam Steering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CFAA7-0CD8-B982-37F4-99A933F3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F3D3-5BB4-40D3-8527-39FA07D679F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81DE4-B718-B56E-4755-9C0D4C6E56EB}"/>
              </a:ext>
            </a:extLst>
          </p:cNvPr>
          <p:cNvSpPr txBox="1"/>
          <p:nvPr/>
        </p:nvSpPr>
        <p:spPr>
          <a:xfrm>
            <a:off x="9791367" y="161432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0 </a:t>
            </a:r>
            <a:r>
              <a:rPr lang="en-US" sz="2400" dirty="0"/>
              <a:t>+ T</a:t>
            </a:r>
            <a:r>
              <a:rPr lang="en-US" sz="2400" baseline="-25000" dirty="0"/>
              <a:t>s</a:t>
            </a:r>
            <a:endParaRPr lang="en-US" sz="2400" dirty="0"/>
          </a:p>
        </p:txBody>
      </p:sp>
      <p:pic>
        <p:nvPicPr>
          <p:cNvPr id="48" name="Graphic 47" descr="Volume with solid fill">
            <a:extLst>
              <a:ext uri="{FF2B5EF4-FFF2-40B4-BE49-F238E27FC236}">
                <a16:creationId xmlns:a16="http://schemas.microsoft.com/office/drawing/2014/main" id="{055DB537-DF13-3D65-9117-36FF9C63A1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196" y="1948266"/>
            <a:ext cx="1378007" cy="320257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9F9CA77-01E8-242B-924C-3D5768B5E41C}"/>
              </a:ext>
            </a:extLst>
          </p:cNvPr>
          <p:cNvSpPr txBox="1"/>
          <p:nvPr/>
        </p:nvSpPr>
        <p:spPr>
          <a:xfrm>
            <a:off x="10773853" y="501144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B89FF"/>
                </a:solidFill>
              </a:rPr>
              <a:t>light (↑)</a:t>
            </a:r>
          </a:p>
        </p:txBody>
      </p:sp>
      <p:pic>
        <p:nvPicPr>
          <p:cNvPr id="53" name="Picture 52" descr="Blue lights on a black background&#10;&#10;AI-generated content may be incorrect.">
            <a:extLst>
              <a:ext uri="{FF2B5EF4-FFF2-40B4-BE49-F238E27FC236}">
                <a16:creationId xmlns:a16="http://schemas.microsoft.com/office/drawing/2014/main" id="{399B2EF8-7DC3-6EC0-8EA4-C26470C7CCD6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2" r="66432"/>
          <a:stretch>
            <a:fillRect/>
          </a:stretch>
        </p:blipFill>
        <p:spPr>
          <a:xfrm>
            <a:off x="4744720" y="1371600"/>
            <a:ext cx="2103120" cy="3935220"/>
          </a:xfrm>
          <a:prstGeom prst="rect">
            <a:avLst/>
          </a:prstGeom>
        </p:spPr>
      </p:pic>
      <p:pic>
        <p:nvPicPr>
          <p:cNvPr id="56" name="Graphic 55" descr="Camera with solid fill">
            <a:extLst>
              <a:ext uri="{FF2B5EF4-FFF2-40B4-BE49-F238E27FC236}">
                <a16:creationId xmlns:a16="http://schemas.microsoft.com/office/drawing/2014/main" id="{2BA6767A-760B-0A02-6255-70F3C243ED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6394" y="1553921"/>
            <a:ext cx="765265" cy="765265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4C9E8D5-8A92-155A-F7DE-4B83BBBE6FA4}"/>
              </a:ext>
            </a:extLst>
          </p:cNvPr>
          <p:cNvSpPr txBox="1"/>
          <p:nvPr/>
        </p:nvSpPr>
        <p:spPr>
          <a:xfrm>
            <a:off x="5154022" y="1311923"/>
            <a:ext cx="1151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dirty="0">
                <a:solidFill>
                  <a:srgbClr val="3B7D23"/>
                </a:solidFill>
              </a:rPr>
              <a:t>defocus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730EAE-A8B4-A1F8-6023-F7B5C7E3C6CE}"/>
              </a:ext>
            </a:extLst>
          </p:cNvPr>
          <p:cNvSpPr txBox="1"/>
          <p:nvPr/>
        </p:nvSpPr>
        <p:spPr>
          <a:xfrm>
            <a:off x="4039347" y="5771049"/>
            <a:ext cx="4394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dirty="0">
                <a:solidFill>
                  <a:srgbClr val="3B7D23"/>
                </a:solidFill>
              </a:rPr>
              <a:t>defocus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/>
              <a:t>– high intensity – bit -</a:t>
            </a:r>
            <a:r>
              <a:rPr lang="en-US" sz="2400" b="1" dirty="0">
                <a:solidFill>
                  <a:srgbClr val="3B7D23"/>
                </a:solidFill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97225-5D0E-1C34-AA66-C16DE72363C0}"/>
              </a:ext>
            </a:extLst>
          </p:cNvPr>
          <p:cNvSpPr txBox="1"/>
          <p:nvPr/>
        </p:nvSpPr>
        <p:spPr>
          <a:xfrm>
            <a:off x="10982978" y="484134"/>
            <a:ext cx="734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00134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1483">
        <p159:morph option="byObject"/>
      </p:transition>
    </mc:Choice>
    <mc:Fallback>
      <p:transition spd="slow" advTm="1483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Custom 2">
      <a:majorFont>
        <a:latin typeface="Linux Biolinum"/>
        <a:ea typeface=""/>
        <a:cs typeface=""/>
      </a:majorFont>
      <a:minorFont>
        <a:latin typeface="Linux Biolinum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2764</TotalTime>
  <Words>184</Words>
  <Application>Microsoft Office PowerPoint</Application>
  <PresentationFormat>Widescreen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Linux Biolinum</vt:lpstr>
      <vt:lpstr>Office Theme</vt:lpstr>
      <vt:lpstr>technique</vt:lpstr>
      <vt:lpstr>technique</vt:lpstr>
      <vt:lpstr>water and light</vt:lpstr>
      <vt:lpstr>sound in water</vt:lpstr>
      <vt:lpstr>light in sound altered water</vt:lpstr>
      <vt:lpstr>communication: bit 1</vt:lpstr>
      <vt:lpstr>communication: bit 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Dhawal Sirikonda</dc:creator>
  <cp:lastModifiedBy>Dhawal Sirikonda</cp:lastModifiedBy>
  <cp:revision>773</cp:revision>
  <dcterms:created xsi:type="dcterms:W3CDTF">2025-07-11T15:33:08Z</dcterms:created>
  <dcterms:modified xsi:type="dcterms:W3CDTF">2025-11-11T15:45:16Z</dcterms:modified>
</cp:coreProperties>
</file>